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3624216cec480e" /><Relationship Type="http://schemas.openxmlformats.org/officeDocument/2006/relationships/extended-properties" Target="/docProps/app.xml" Id="Rce287597771b40b1" /><Relationship Type="http://schemas.openxmlformats.org/officeDocument/2006/relationships/officeDocument" Target="/ppt/presentation.xml" Id="R5029138133d440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4ef54c843e4e3f"/>
  </p:sldMasterIdLst>
  <p:notesMasterIdLst>
    <p:notesMasterId xmlns:r="http://schemas.openxmlformats.org/officeDocument/2006/relationships" r:id="R34d349de6f1341ab"/>
  </p:notesMasterIdLst>
  <p:sldIdLst>
    <p:sldId xmlns:r="http://schemas.openxmlformats.org/officeDocument/2006/relationships" id="256" r:id="R4a0736db4cd545b9"/>
    <p:sldId xmlns:r="http://schemas.openxmlformats.org/officeDocument/2006/relationships" id="257" r:id="R4e0ff5c0f33841ef"/>
    <p:sldId xmlns:r="http://schemas.openxmlformats.org/officeDocument/2006/relationships" id="258" r:id="R9349a033379f4c4e"/>
    <p:sldId xmlns:r="http://schemas.openxmlformats.org/officeDocument/2006/relationships" id="259" r:id="R79fbfdf517e7469d"/>
    <p:sldId xmlns:r="http://schemas.openxmlformats.org/officeDocument/2006/relationships" id="260" r:id="R42f5ede41e544fd9"/>
    <p:sldId xmlns:r="http://schemas.openxmlformats.org/officeDocument/2006/relationships" id="261" r:id="R75e9a2fe8ab7463c"/>
    <p:sldId xmlns:r="http://schemas.openxmlformats.org/officeDocument/2006/relationships" id="262" r:id="R2b889e87a6134c36"/>
    <p:sldId xmlns:r="http://schemas.openxmlformats.org/officeDocument/2006/relationships" id="263" r:id="Rcf1bf820487441ed"/>
    <p:sldId xmlns:r="http://schemas.openxmlformats.org/officeDocument/2006/relationships" id="264" r:id="Rfcc0e25fcf7440db"/>
    <p:sldId xmlns:r="http://schemas.openxmlformats.org/officeDocument/2006/relationships" id="265" r:id="Rd5b85e78c5db477b"/>
    <p:sldId xmlns:r="http://schemas.openxmlformats.org/officeDocument/2006/relationships" id="266" r:id="R0fb2acdcf1ff473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ef54c843e4e3f" /><Relationship Type="http://schemas.openxmlformats.org/officeDocument/2006/relationships/theme" Target="/ppt/theme/theme1.xml" Id="Rf1b17c43bad34635" /><Relationship Type="http://schemas.openxmlformats.org/officeDocument/2006/relationships/notesMaster" Target="/ppt/notesMasters/notesMaster1.xml" Id="R34d349de6f1341ab" /><Relationship Type="http://schemas.openxmlformats.org/officeDocument/2006/relationships/presProps" Target="/ppt/presProps.xml" Id="R993b261100b04591" /><Relationship Type="http://schemas.openxmlformats.org/officeDocument/2006/relationships/viewProps" Target="/ppt/viewProps.xml" Id="R862b2b34817048ef" /><Relationship Type="http://schemas.openxmlformats.org/officeDocument/2006/relationships/tableStyles" Target="/ppt/tableStyles.xml" Id="R48598a4edc8c451e" /><Relationship Type="http://schemas.openxmlformats.org/officeDocument/2006/relationships/slide" Target="/ppt/slides/slide1.xml" Id="R4a0736db4cd545b9" /><Relationship Type="http://schemas.openxmlformats.org/officeDocument/2006/relationships/slide" Target="/ppt/slides/slide2.xml" Id="R4e0ff5c0f33841ef" /><Relationship Type="http://schemas.openxmlformats.org/officeDocument/2006/relationships/slide" Target="/ppt/slides/slide3.xml" Id="R9349a033379f4c4e" /><Relationship Type="http://schemas.openxmlformats.org/officeDocument/2006/relationships/slide" Target="/ppt/slides/slide4.xml" Id="R79fbfdf517e7469d" /><Relationship Type="http://schemas.openxmlformats.org/officeDocument/2006/relationships/slide" Target="/ppt/slides/slide5.xml" Id="R42f5ede41e544fd9" /><Relationship Type="http://schemas.openxmlformats.org/officeDocument/2006/relationships/slide" Target="/ppt/slides/slide6.xml" Id="R75e9a2fe8ab7463c" /><Relationship Type="http://schemas.openxmlformats.org/officeDocument/2006/relationships/slide" Target="/ppt/slides/slide7.xml" Id="R2b889e87a6134c36" /><Relationship Type="http://schemas.openxmlformats.org/officeDocument/2006/relationships/slide" Target="/ppt/slides/slide8.xml" Id="Rcf1bf820487441ed" /><Relationship Type="http://schemas.openxmlformats.org/officeDocument/2006/relationships/slide" Target="/ppt/slides/slide9.xml" Id="Rfcc0e25fcf7440db" /><Relationship Type="http://schemas.openxmlformats.org/officeDocument/2006/relationships/slide" Target="/ppt/slides/slide10.xml" Id="Rd5b85e78c5db477b" /><Relationship Type="http://schemas.openxmlformats.org/officeDocument/2006/relationships/slide" Target="/ppt/slides/slide11.xml" Id="R0fb2acdcf1ff47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11741894ef42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bf6c1fcbdf424c" /><Relationship Type="http://schemas.openxmlformats.org/officeDocument/2006/relationships/notesMaster" Target="/ppt/notesMasters/notesMaster1.xml" Id="R825a9a228d2042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48313ae6c940ff" /><Relationship Type="http://schemas.openxmlformats.org/officeDocument/2006/relationships/notesMaster" Target="/ppt/notesMasters/notesMaster1.xml" Id="Rac1f93982f4a4c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44d163a71d4952" /><Relationship Type="http://schemas.openxmlformats.org/officeDocument/2006/relationships/notesMaster" Target="/ppt/notesMasters/notesMaster1.xml" Id="Rbaa367efbe894d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f20e2f07be491d" /><Relationship Type="http://schemas.openxmlformats.org/officeDocument/2006/relationships/notesMaster" Target="/ppt/notesMasters/notesMaster1.xml" Id="Rd8c80489483c43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f5b098fb7e4ed2" /><Relationship Type="http://schemas.openxmlformats.org/officeDocument/2006/relationships/notesMaster" Target="/ppt/notesMasters/notesMaster1.xml" Id="R6528e13775ed45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0da544469e44dc" /><Relationship Type="http://schemas.openxmlformats.org/officeDocument/2006/relationships/notesMaster" Target="/ppt/notesMasters/notesMaster1.xml" Id="R98e3ac4e0ad344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38e3a0545d427b" /><Relationship Type="http://schemas.openxmlformats.org/officeDocument/2006/relationships/notesMaster" Target="/ppt/notesMasters/notesMaster1.xml" Id="R17860d01ee5c4e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3222e3fcc244ff" /><Relationship Type="http://schemas.openxmlformats.org/officeDocument/2006/relationships/notesMaster" Target="/ppt/notesMasters/notesMaster1.xml" Id="R1a6574feea1940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90f8691a0348b6" /><Relationship Type="http://schemas.openxmlformats.org/officeDocument/2006/relationships/notesMaster" Target="/ppt/notesMasters/notesMaster1.xml" Id="R2b8315f007c149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55244de9b64c36" /><Relationship Type="http://schemas.openxmlformats.org/officeDocument/2006/relationships/notesMaster" Target="/ppt/notesMasters/notesMaster1.xml" Id="R6b9977f9d82b43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e864d2dc72418e" /><Relationship Type="http://schemas.openxmlformats.org/officeDocument/2006/relationships/notesMaster" Target="/ppt/notesMasters/notesMaster1.xml" Id="Re010495029f4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149a20b474df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ddff59777445c8" /><Relationship Type="http://schemas.openxmlformats.org/officeDocument/2006/relationships/slideLayout" Target="/ppt/slideLayouts/slideLayout2.xml" Id="Rbeba2a5d3afb4c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ba2a5d3afb4c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20144f48e644a9" /><Relationship Type="http://schemas.openxmlformats.org/officeDocument/2006/relationships/notesSlide" Target="/ppt/notesSlides/notesSlide1.xml" Id="Rab1defb46f854b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04b3f64f644f60" /><Relationship Type="http://schemas.openxmlformats.org/officeDocument/2006/relationships/notesSlide" Target="/ppt/notesSlides/notesSlide2.xml" Id="R898613b4e70944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58f9a8badb4ff9" /><Relationship Type="http://schemas.openxmlformats.org/officeDocument/2006/relationships/notesSlide" Target="/ppt/notesSlides/notesSlide3.xml" Id="Ra85e224e0d6447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94d2b52a4544dd" /><Relationship Type="http://schemas.openxmlformats.org/officeDocument/2006/relationships/notesSlide" Target="/ppt/notesSlides/notesSlide4.xml" Id="R61993284950d47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0fcbca915e4b46" /><Relationship Type="http://schemas.openxmlformats.org/officeDocument/2006/relationships/notesSlide" Target="/ppt/notesSlides/notesSlide5.xml" Id="R2bbad9ec04ab45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f33cc255eb4bff" /><Relationship Type="http://schemas.openxmlformats.org/officeDocument/2006/relationships/notesSlide" Target="/ppt/notesSlides/notesSlide6.xml" Id="R6df784f40ba64a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2f21458cbd4e4a" /><Relationship Type="http://schemas.openxmlformats.org/officeDocument/2006/relationships/notesSlide" Target="/ppt/notesSlides/notesSlide7.xml" Id="R3555d3cc8cbe4b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58e5c83dce4df8" /><Relationship Type="http://schemas.openxmlformats.org/officeDocument/2006/relationships/image" Target="/ppt/media/image.png" Id="R6bdc93a2af5d47e7" /><Relationship Type="http://schemas.openxmlformats.org/officeDocument/2006/relationships/notesSlide" Target="/ppt/notesSlides/notesSlide8.xml" Id="R7da9676e993241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02bf81ffa34475" /><Relationship Type="http://schemas.openxmlformats.org/officeDocument/2006/relationships/image" Target="/ppt/media/image2.png" Id="R220043d556714ce2" /><Relationship Type="http://schemas.openxmlformats.org/officeDocument/2006/relationships/notesSlide" Target="/ppt/notesSlides/notesSlide9.xml" Id="R06a17758431b4e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af5cddfbf34da8" /><Relationship Type="http://schemas.openxmlformats.org/officeDocument/2006/relationships/notesSlide" Target="/ppt/notesSlides/notesSlide10.xml" Id="R5970c1c3c2f946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0ee0a780164cd4" /><Relationship Type="http://schemas.openxmlformats.org/officeDocument/2006/relationships/notesSlide" Target="/ppt/notesSlides/notesSlide11.xml" Id="R92026a3e396748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5269F52-2557-4803-846F-AD7281B6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16A01F-C44B-4139-9F79-889736DE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5887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026"/>
                </a:solidFill>
              </a:defRPr>
            </a:pPr>
            <a:r>
              <a:t>Evaluating Test-Time Adaptation for CIFAR-10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64B31-E9AF-4575-8A1C-F2C2A544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68580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4A4A"/>
                </a:solidFill>
              </a:defRPr>
            </a:pPr>
            <a:r>
              <a:t>Submission deck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DBF9997-5DA9-4335-BA93-DF58A68C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5543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Final 50-epoch full-test results under synthetic corruption shift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0B65D-4A47-4CCA-ADB2-9803F64D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F09EB-5C9E-47FA-9FC8-9058E8DC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8629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4A4A"/>
                </a:solidFill>
              </a:defRPr>
            </a:pPr>
            <a:r>
              <a:t>Distribution shift is the test. Adaptation is the intervention.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2232E-427F-4324-B47E-85C76579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8629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26"/>
                </a:solidFill>
              </a:defRPr>
            </a:pPr>
            <a:r>
              <a:t>The project compares source-only inference, BatchNorm adaptation, entropy minimization, and confidence-gated entropy minimization without using target labels.</a:t>
            </a:r>
          </a:p>
        </p:txBody>
      </p:sp>
      <p:sp>
        <p:nvSpPr>
          <p:cNvPr id="8" name="chip-CIFAR-10">
            <a:extLst xmlns:a="http://schemas.openxmlformats.org/drawingml/2006/main">
              <a:ext uri="{FF2B5EF4-FFF2-40B4-BE49-F238E27FC236}">
                <a16:creationId xmlns:a16="http://schemas.microsoft.com/office/drawing/2014/main" id="{38294937-E97B-471F-A9D7-5FC7820C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939927" cy="54102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ECE8D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28310-B91B-443C-BEF1-01A1CE19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10350"/>
            <a:ext cx="590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26"/>
                </a:solidFill>
              </a:defRPr>
            </a:pPr>
            <a:r>
              <a:t>CIFAR-10</a:t>
            </a:r>
          </a:p>
        </p:txBody>
      </p:sp>
      <p:sp>
        <p:nvSpPr>
          <p:cNvPr id="10" name="chip-Synthetic corruptions">
            <a:extLst xmlns:a="http://schemas.openxmlformats.org/drawingml/2006/main">
              <a:ext uri="{FF2B5EF4-FFF2-40B4-BE49-F238E27FC236}">
                <a16:creationId xmlns:a16="http://schemas.microsoft.com/office/drawing/2014/main" id="{C06D3171-4BFC-4FB7-AC37-7749C5B9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177" y="6534150"/>
            <a:ext cx="1777746" cy="346710"/>
          </a:xfrm>
          <a:prstGeom xmlns:a="http://schemas.openxmlformats.org/drawingml/2006/main" prst="roundRect">
            <a:avLst>
              <a:gd name="adj" fmla="val 21978"/>
            </a:avLst>
          </a:prstGeom>
          <a:solidFill xmlns:a="http://schemas.openxmlformats.org/drawingml/2006/main">
            <a:srgbClr val="ECE8D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92C64-C4C9-40FF-9DF5-E098425F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6103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26"/>
                </a:solidFill>
              </a:defRPr>
            </a:pPr>
            <a:r>
              <a:t>Synthetic corruptions</a:t>
            </a:r>
          </a:p>
        </p:txBody>
      </p:sp>
      <p:sp>
        <p:nvSpPr>
          <p:cNvPr id="12" name="chip-Single seed">
            <a:extLst xmlns:a="http://schemas.openxmlformats.org/drawingml/2006/main">
              <a:ext uri="{FF2B5EF4-FFF2-40B4-BE49-F238E27FC236}">
                <a16:creationId xmlns:a16="http://schemas.microsoft.com/office/drawing/2014/main" id="{B5F0038C-F455-44CA-8952-6477D5EF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323" y="6534150"/>
            <a:ext cx="1095280" cy="346710"/>
          </a:xfrm>
          <a:prstGeom xmlns:a="http://schemas.openxmlformats.org/drawingml/2006/main" prst="roundRect">
            <a:avLst>
              <a:gd name="adj" fmla="val 21978"/>
            </a:avLst>
          </a:prstGeom>
          <a:solidFill xmlns:a="http://schemas.openxmlformats.org/drawingml/2006/main">
            <a:srgbClr val="F0E3D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C0937-AE2B-4201-9D58-884E15A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610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A3C"/>
                </a:solidFill>
              </a:defRPr>
            </a:pPr>
            <a:r>
              <a:t>Single 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B4E3E-756B-40F0-886E-B12CF9DF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38600"/>
            <a:ext cx="2495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6"/>
                </a:solidFill>
              </a:defRPr>
            </a:pPr>
            <a:r>
              <a:t>Source-only corrupted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21BDA-BD19-4EEA-9582-DC8CA06E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4000500"/>
            <a:ext cx="62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A3C"/>
                </a:solidFill>
              </a:defRPr>
            </a:pPr>
            <a:r>
              <a:t>59.05%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90BA0-5768-46D4-9A11-055DC73D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43400"/>
            <a:ext cx="3333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45A3C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85485-ACB1-493B-922A-BDCBEC60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343400"/>
            <a:ext cx="44958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E8DC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FBA3E-AC95-4DFB-A03F-E198A637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8630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6"/>
                </a:solidFill>
              </a:defRPr>
            </a:pPr>
            <a:r>
              <a:t>Entropy minimization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D9698-D8FC-4A35-B054-E24031B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4648200"/>
            <a:ext cx="62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7A78"/>
                </a:solidFill>
              </a:defRPr>
            </a:pPr>
            <a:r>
              <a:t>79.08%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1C4DD-9779-4037-9925-92B1B093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53000"/>
            <a:ext cx="4476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B7A7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5680B-5274-469D-ADC0-23DDDF42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4953000"/>
            <a:ext cx="33528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E8D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81F92-30FD-48A4-AC59-56987ED5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14950"/>
            <a:ext cx="1924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26"/>
                </a:solidFill>
              </a:defRPr>
            </a:pPr>
            <a:r>
              <a:t>Best gated TTA (tau=0.9)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607CD-275B-4BBB-8781-08A2F5DB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5505450"/>
            <a:ext cx="62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C956C"/>
                </a:solidFill>
              </a:defRPr>
            </a:pPr>
            <a:r>
              <a:t>79.18%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06FD8-AF0C-450A-BFAB-F9660EF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67400"/>
            <a:ext cx="45148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C956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4114E-D4F2-416A-BF03-DF18BC9F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867400"/>
            <a:ext cx="32766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E8DC"/>
          </a:solidFill>
        </p:spPr>
      </p:sp>
      <p:sp>
        <p:nvSpPr>
          <p:cNvPr id="26" name="metric-Best clean">
            <a:extLst xmlns:a="http://schemas.openxmlformats.org/drawingml/2006/main">
              <a:ext uri="{FF2B5EF4-FFF2-40B4-BE49-F238E27FC236}">
                <a16:creationId xmlns:a16="http://schemas.microsoft.com/office/drawing/2014/main" id="{42799A92-68A9-4407-918E-43EC1DF0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079" y="6179820"/>
            <a:ext cx="3837861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6C4BAC-5D0A-4F23-91EA-4FBE7A3D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305550"/>
            <a:ext cx="340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7A78"/>
                </a:solidFill>
              </a:defRPr>
            </a:pPr>
            <a:r>
              <a:t>Best clean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98376C-E726-41C5-B184-24431585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3409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93.78%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BF434-BCE5-4CB6-8F23-EF7E78F3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953250"/>
            <a:ext cx="3409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epoch 48</a:t>
            </a:r>
          </a:p>
        </p:txBody>
      </p:sp>
      <p:sp>
        <p:nvSpPr>
          <p:cNvPr id="30" name="metric-Final epoch clean">
            <a:extLst xmlns:a="http://schemas.openxmlformats.org/drawingml/2006/main">
              <a:ext uri="{FF2B5EF4-FFF2-40B4-BE49-F238E27FC236}">
                <a16:creationId xmlns:a16="http://schemas.microsoft.com/office/drawing/2014/main" id="{A3B67C9E-AC14-4730-A2A1-7FB4AF3C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5289" y="6179820"/>
            <a:ext cx="3837861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0BE033-BA50-448B-8DB1-BCE86B35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6305550"/>
            <a:ext cx="340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9A2B"/>
                </a:solidFill>
              </a:defRPr>
            </a:pPr>
            <a:r>
              <a:t>Final epoch clean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1C851-7C14-4F49-8E31-B975FFEE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6534150"/>
            <a:ext cx="3409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93.66%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8F57AF-3675-4851-A9D5-C5F0FEA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6953250"/>
            <a:ext cx="3409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source model</a:t>
            </a:r>
          </a:p>
        </p:txBody>
      </p:sp>
    </p:spTree>
    <p:extLst>
      <p:ext uri="{BB962C8B-B14F-4D97-AF65-F5344CB8AC3E}">
        <p14:creationId xmlns:p14="http://schemas.microsoft.com/office/powerpoint/2010/main" val="631975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1D67B6EF-598E-46A2-87C7-6BE2A85E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7C60A2-7A58-4E43-8218-760085F9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687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6"/>
                </a:solidFill>
              </a:defRPr>
            </a:pPr>
            <a:r>
              <a:t>Problem and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55ED5-568B-4670-A6D0-BBADF49F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00100"/>
            <a:ext cx="9525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8F7F2"/>
                </a:solidFill>
              </a:defRPr>
            </a:pPr>
            <a:r>
              <a:t/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994305-69D1-40C5-A303-D71086D6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086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A model trained on clean images can face noisy, blurred, compressed, or shifted inputs at deployment.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B0DDA-FCE2-4360-8993-B8C3E341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metric-Clean source model">
            <a:extLst xmlns:a="http://schemas.openxmlformats.org/drawingml/2006/main">
              <a:ext uri="{FF2B5EF4-FFF2-40B4-BE49-F238E27FC236}">
                <a16:creationId xmlns:a16="http://schemas.microsoft.com/office/drawing/2014/main" id="{24B373C4-F79A-41C3-868A-36A03723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743235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3796A-5E7D-4690-A20B-9CA410C8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7010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C956C"/>
                </a:solidFill>
              </a:defRPr>
            </a:pPr>
            <a:r>
              <a:t>Clean source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E26B1-B99E-4757-89FA-BC4387DB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7010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93.78%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60DB7-C96B-45E6-B46D-0FC3CAFF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7010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best clean accuracy</a:t>
            </a:r>
          </a:p>
        </p:txBody>
      </p:sp>
      <p:sp>
        <p:nvSpPr>
          <p:cNvPr id="10" name="metric-Source-only under shift">
            <a:extLst xmlns:a="http://schemas.openxmlformats.org/drawingml/2006/main">
              <a:ext uri="{FF2B5EF4-FFF2-40B4-BE49-F238E27FC236}">
                <a16:creationId xmlns:a16="http://schemas.microsoft.com/office/drawing/2014/main" id="{BFF4A269-8316-4DC7-BF56-51602581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743235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E5D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0B835-C618-412C-BCC3-AA5AF504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7010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A3C"/>
                </a:solidFill>
              </a:defRPr>
            </a:pPr>
            <a:r>
              <a:t>Source-only under shift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D8C08-A87D-4F25-8AD5-2C9FA47B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7010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59.05%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BC44E-7658-444E-A75D-021AC107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7010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average corrupted accuracy</a:t>
            </a:r>
          </a:p>
        </p:txBody>
      </p:sp>
      <p:sp>
        <p:nvSpPr>
          <p:cNvPr id="14" name="metric-Accuracy drop">
            <a:extLst xmlns:a="http://schemas.openxmlformats.org/drawingml/2006/main">
              <a:ext uri="{FF2B5EF4-FFF2-40B4-BE49-F238E27FC236}">
                <a16:creationId xmlns:a16="http://schemas.microsoft.com/office/drawing/2014/main" id="{5F74EA4F-44F2-4C3C-ADC1-0C41C099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86550"/>
            <a:ext cx="7432358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FE8D5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072F9-2BF2-4EBA-B69D-21483442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19900"/>
            <a:ext cx="7010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9A2B"/>
                </a:solidFill>
              </a:defRPr>
            </a:pPr>
            <a:r>
              <a:t>Accuracy drop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B44B8-8158-4B8D-82AE-BEA7DA6A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7010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34.72 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B44AC-E678-482F-8303-EFB40086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67600"/>
            <a:ext cx="7010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clean to corrupted</a:t>
            </a:r>
          </a:p>
        </p:txBody>
      </p:sp>
      <p:sp>
        <p:nvSpPr>
          <p:cNvPr id="18" name="method-Train">
            <a:extLst xmlns:a="http://schemas.openxmlformats.org/drawingml/2006/main">
              <a:ext uri="{FF2B5EF4-FFF2-40B4-BE49-F238E27FC236}">
                <a16:creationId xmlns:a16="http://schemas.microsoft.com/office/drawing/2014/main" id="{460A00A7-3D16-4A62-9E67-B83B8F6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158" y="4286250"/>
            <a:ext cx="4189571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D7976-0FE6-4208-A495-17399D04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5770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A4A"/>
                </a:solidFill>
              </a:defRPr>
            </a:pPr>
            <a:r>
              <a:t>Train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D1A54-DDC0-475A-8B16-B65674EE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00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Clean CIFAR-10 images with labels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59001-8281-45D3-ABB3-C48D5EF7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914900"/>
            <a:ext cx="40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A3C"/>
                </a:solidFill>
              </a:defRPr>
            </a:pPr>
            <a:r>
              <a:t>-&gt;</a:t>
            </a:r>
          </a:p>
        </p:txBody>
      </p:sp>
      <p:sp>
        <p:nvSpPr>
          <p:cNvPr id="22" name="method-Deploy">
            <a:extLst xmlns:a="http://schemas.openxmlformats.org/drawingml/2006/main">
              <a:ext uri="{FF2B5EF4-FFF2-40B4-BE49-F238E27FC236}">
                <a16:creationId xmlns:a16="http://schemas.microsoft.com/office/drawing/2014/main" id="{AD269C31-4D2F-460C-99E3-ABBB8DF3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79" y="4286250"/>
            <a:ext cx="4189571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D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4C96D-5B13-4DA9-816D-04B1A6A6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45770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A3C"/>
                </a:solidFill>
              </a:defRPr>
            </a:pPr>
            <a:r>
              <a:t>Deploy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764DB-42E5-4768-B915-7A166CEE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800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Unlabeled corrupted test stream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41B50-1B85-45BD-A3B0-E3078A0B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096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A3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10C6F-440C-4F3E-82F6-6F2426A4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096000"/>
            <a:ext cx="887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026"/>
                </a:solidFill>
              </a:defRPr>
            </a:pPr>
            <a:r>
              <a:t>Target labels are unavailable during evaluation.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4176C-488C-4115-A236-7F4CFCA6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553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A3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6AE8D-6795-4707-BE79-B26B5041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53200"/>
            <a:ext cx="887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026"/>
                </a:solidFill>
              </a:defRPr>
            </a:pPr>
            <a:r>
              <a:t>Static source inference does not adjust to the incoming stream.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73A92E-6213-4213-A4E0-F149786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7010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A3C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782847-2E6D-4104-A3D9-0109088E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010400"/>
            <a:ext cx="887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026"/>
                </a:solidFill>
              </a:defRPr>
            </a:pPr>
            <a:r>
              <a:t>TTA asks whether unlabeled test batches can support useful updates.</a:t>
            </a:r>
          </a:p>
        </p:txBody>
      </p:sp>
    </p:spTree>
    <p:extLst>
      <p:ext uri="{BB962C8B-B14F-4D97-AF65-F5344CB8AC3E}">
        <p14:creationId xmlns:p14="http://schemas.microsoft.com/office/powerpoint/2010/main" val="7275476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2E0FDF0-64F0-4A7D-85AE-2E99526F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4F35DB-B8C3-447B-B7CD-B9D21312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687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6"/>
                </a:solidFill>
              </a:defRPr>
            </a:pPr>
            <a:r>
              <a:t>Background: Distribution Shift and TTA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2AB4B-757F-4870-9EF2-57AEA32A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00100"/>
            <a:ext cx="9525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8F7F2"/>
                </a:solidFill>
              </a:defRPr>
            </a:pPr>
            <a:r>
              <a:t/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D13D19-FE59-4483-9BDF-3B15816D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23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Distribution shift changes the input statistics; test-time adaptation updates the model during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F3016-DC7A-4BD8-8ADF-4A2321D0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method-Distribution shift">
            <a:extLst xmlns:a="http://schemas.openxmlformats.org/drawingml/2006/main">
              <a:ext uri="{FF2B5EF4-FFF2-40B4-BE49-F238E27FC236}">
                <a16:creationId xmlns:a16="http://schemas.microsoft.com/office/drawing/2014/main" id="{96095ABB-07C8-47E2-BD97-33739349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54483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4F28B-F45F-4063-8ED5-9021F5F2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A3C"/>
                </a:solidFill>
              </a:defRPr>
            </a:pPr>
            <a:r>
              <a:t>Distribution shift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9B8D6-E846-4E45-B3C1-0CAE4793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5067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The training and deployment image distributions differ because of corruption, blur, lighting, or compression.</a:t>
            </a:r>
          </a:p>
        </p:txBody>
      </p:sp>
      <p:sp>
        <p:nvSpPr>
          <p:cNvPr id="9" name="method-Test-time adaptation">
            <a:extLst xmlns:a="http://schemas.openxmlformats.org/drawingml/2006/main">
              <a:ext uri="{FF2B5EF4-FFF2-40B4-BE49-F238E27FC236}">
                <a16:creationId xmlns:a16="http://schemas.microsoft.com/office/drawing/2014/main" id="{CB586B57-FC3A-4C30-B86A-F3C384EB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0150"/>
            <a:ext cx="54483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C95B5-82A5-4681-963A-553BFDE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160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7A78"/>
                </a:solidFill>
              </a:defRPr>
            </a:pPr>
            <a:r>
              <a:t>Test-time adaptation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319F1-B863-4577-B9EC-6E2D058A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24500"/>
            <a:ext cx="5067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The model uses unlabeled target batches to update selected parameters while predictions are being produced.</a:t>
            </a:r>
          </a:p>
        </p:txBody>
      </p:sp>
      <p:sp>
        <p:nvSpPr>
          <p:cNvPr id="12" name="method-Entropy minimization">
            <a:extLst xmlns:a="http://schemas.openxmlformats.org/drawingml/2006/main">
              <a:ext uri="{FF2B5EF4-FFF2-40B4-BE49-F238E27FC236}">
                <a16:creationId xmlns:a16="http://schemas.microsoft.com/office/drawing/2014/main" id="{0E6B4B78-40B8-464D-BF9C-A4AC10A0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010150"/>
            <a:ext cx="54483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FD66E-5009-4AE9-9403-C7E45E7F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18160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9A2B"/>
                </a:solidFill>
              </a:defRPr>
            </a:pPr>
            <a:r>
              <a:t>Entropy minimization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834AC-6917-49BD-9C02-587CB918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524500"/>
            <a:ext cx="5067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A common TTA objective encourages confident predictions, but confident mistakes can still drive updates.</a:t>
            </a:r>
          </a:p>
        </p:txBody>
      </p:sp>
    </p:spTree>
    <p:extLst>
      <p:ext uri="{BB962C8B-B14F-4D97-AF65-F5344CB8AC3E}">
        <p14:creationId xmlns:p14="http://schemas.microsoft.com/office/powerpoint/2010/main" val="195794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14D743C-E171-433E-9673-02E50F31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66BDF4-97EA-4B00-9A9B-FF435B25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687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6"/>
                </a:solidFill>
              </a:defRPr>
            </a:pPr>
            <a:r>
              <a:t>Method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4BB52-CD02-4E93-B384-14B00D7F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00100"/>
            <a:ext cx="9525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8F7F2"/>
                </a:solidFill>
              </a:defRPr>
            </a:pPr>
            <a:r>
              <a:t/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5D04198-4BA0-4B9E-BC6E-949C458D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811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All methods use the same trained ResNet18 and the same corrupted CIFAR-10 test streams.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F2189-A7CF-41E9-9096-ABBA7055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method-Source-only">
            <a:extLst xmlns:a="http://schemas.openxmlformats.org/drawingml/2006/main">
              <a:ext uri="{FF2B5EF4-FFF2-40B4-BE49-F238E27FC236}">
                <a16:creationId xmlns:a16="http://schemas.microsoft.com/office/drawing/2014/main" id="{F0A96202-D6E9-46EF-9DF3-87833851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9280"/>
            <a:ext cx="83248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BF7C5-8AF5-4D87-9BC0-91354BC5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794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6"/>
                </a:solidFill>
              </a:defRPr>
            </a:pPr>
            <a:r>
              <a:t>Source-only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21CEA-21E9-49A0-A2DA-052A99D1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No test-time updates; the trained source checkpoint is evaluated as-is.</a:t>
            </a:r>
          </a:p>
        </p:txBody>
      </p:sp>
      <p:sp>
        <p:nvSpPr>
          <p:cNvPr id="9" name="method-BatchNorm adaptation">
            <a:extLst xmlns:a="http://schemas.openxmlformats.org/drawingml/2006/main">
              <a:ext uri="{FF2B5EF4-FFF2-40B4-BE49-F238E27FC236}">
                <a16:creationId xmlns:a16="http://schemas.microsoft.com/office/drawing/2014/main" id="{E1CA347F-719D-4D50-9217-67BF3719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59280"/>
            <a:ext cx="83248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3F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D5348-B924-4CA0-BB80-F2C39E46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38350"/>
            <a:ext cx="794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7A78"/>
                </a:solidFill>
              </a:defRPr>
            </a:pPr>
            <a:r>
              <a:t>BatchNorm adaptation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789BB-21F0-474B-BD7B-2497ADFB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Run in train mode so BatchNorm running statistics update from the test stream; weights stay frozen.</a:t>
            </a:r>
          </a:p>
        </p:txBody>
      </p:sp>
      <p:sp>
        <p:nvSpPr>
          <p:cNvPr id="12" name="method-Entropy minimization">
            <a:extLst xmlns:a="http://schemas.openxmlformats.org/drawingml/2006/main">
              <a:ext uri="{FF2B5EF4-FFF2-40B4-BE49-F238E27FC236}">
                <a16:creationId xmlns:a16="http://schemas.microsoft.com/office/drawing/2014/main" id="{A5E56621-11B1-47F5-8C9D-D890975B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0740"/>
            <a:ext cx="83248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BD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EBBE1-D64C-4C00-9790-5CB8806C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96000"/>
            <a:ext cx="794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9A2B"/>
                </a:solidFill>
              </a:defRPr>
            </a:pPr>
            <a:r>
              <a:t>Entropy minimization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B9840-D083-44E2-94C2-6FA88162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Update only BatchNorm affine parameters by minimizing prediction entropy on each test batch.</a:t>
            </a:r>
          </a:p>
        </p:txBody>
      </p:sp>
      <p:sp>
        <p:nvSpPr>
          <p:cNvPr id="15" name="method-Confidence-gated TTA">
            <a:extLst xmlns:a="http://schemas.openxmlformats.org/drawingml/2006/main">
              <a:ext uri="{FF2B5EF4-FFF2-40B4-BE49-F238E27FC236}">
                <a16:creationId xmlns:a16="http://schemas.microsoft.com/office/drawing/2014/main" id="{AAFE35EE-453A-419E-9345-6539ABEA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20740"/>
            <a:ext cx="83248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D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F0313-0F3F-4FB6-BAC5-997CFD56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0"/>
            <a:ext cx="794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A3C"/>
                </a:solidFill>
              </a:defRPr>
            </a:pPr>
            <a:r>
              <a:t>Confidence-gated TTA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1B836-4E7C-4925-89E0-1C3C2AE4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43890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Use the same entropy objective, but mask out samples below a maximum-softmax confidence threshold.</a:t>
            </a:r>
          </a:p>
        </p:txBody>
      </p:sp>
    </p:spTree>
    <p:extLst>
      <p:ext uri="{BB962C8B-B14F-4D97-AF65-F5344CB8AC3E}">
        <p14:creationId xmlns:p14="http://schemas.microsoft.com/office/powerpoint/2010/main" val="5622745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421AC9A-AEB1-44C2-B70D-540149BB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65D90E-02C8-4635-A7A0-FF3B7F79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687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6"/>
                </a:solidFill>
              </a:defRPr>
            </a:pPr>
            <a:r>
              <a:t>Confidence-Gated TTA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33D9F-306A-4B60-AB11-0E08960D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00100"/>
            <a:ext cx="9525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8F7F2"/>
                </a:solidFill>
              </a:defRPr>
            </a:pPr>
            <a:r>
              <a:t/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312864-4B03-4A5A-B18D-BF4B6AB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277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The gate changes which samples contribute to the entropy loss; labels are never used during adaptation.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EEE50-4842-4F8E-943E-AE02ACC2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F179F-2A93-41C0-9AEA-12A64F68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82391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233A9-F95A-473B-BB99-54D1DC07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779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4A4A"/>
                </a:solidFill>
              </a:defRPr>
            </a:pPr>
            <a:r>
              <a:t>Confidence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29F4C-BCD8-4682-9D9B-6B7B52E6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7791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4A4A"/>
                </a:solidFill>
              </a:defRPr>
            </a:pPr>
            <a:r>
              <a:t>s_i = max_c p_theta(c | x_i)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D4AAF-2935-47AE-BADD-3958E0F8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82391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AD721-A002-41C9-A2EC-58EFDB69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779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4A4A"/>
                </a:solidFill>
              </a:defRPr>
            </a:pPr>
            <a:r>
              <a:t>Gate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7B961-DE6B-4D74-BA14-A76D0DE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7791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45A3C"/>
                </a:solidFill>
              </a:defRPr>
            </a:pPr>
            <a:r>
              <a:t>use sample if s_i &gt;= tau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5CF92-AEA2-426B-866D-ADEE31C7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19900"/>
            <a:ext cx="82391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96523-DAAE-48D6-A3FA-97D4BBFE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10400"/>
            <a:ext cx="779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4A4A"/>
                </a:solidFill>
              </a:defRPr>
            </a:pPr>
            <a:r>
              <a:t>Thresholds tested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E5B05-11CC-4367-854B-26E18E56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77100"/>
            <a:ext cx="7791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89A2B"/>
                </a:solidFill>
              </a:defRPr>
            </a:pPr>
            <a:r>
              <a:t>tau = 0.5, 0.7, 0.9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1C2DD-86C9-4902-9390-F43791EA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62450"/>
            <a:ext cx="8248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26"/>
                </a:solidFill>
              </a:defRPr>
            </a:pPr>
            <a:r>
              <a:t>Selected-sample fraction fell as the threshold increased, while average accuracy stayed near entropy minimization.</a:t>
            </a:r>
          </a:p>
        </p:txBody>
      </p:sp>
      <p:sp>
        <p:nvSpPr>
          <p:cNvPr id="16" name="metric-tau=0.5">
            <a:extLst xmlns:a="http://schemas.openxmlformats.org/drawingml/2006/main">
              <a:ext uri="{FF2B5EF4-FFF2-40B4-BE49-F238E27FC236}">
                <a16:creationId xmlns:a16="http://schemas.microsoft.com/office/drawing/2014/main" id="{FA14C1F2-1F1F-426D-ABAE-90A5B377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64480"/>
            <a:ext cx="26447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BAF9E-B7D4-4ECB-9379-37DA5C6A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054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7A78"/>
                </a:solidFill>
              </a:defRPr>
            </a:pPr>
            <a:r>
              <a:t>tau=0.5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F5095-1D76-43FE-9C78-64B189BE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15000"/>
            <a:ext cx="222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97.5%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2EDBD-5D29-494A-A82E-99656758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153150"/>
            <a:ext cx="2228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79.04% avg acc.</a:t>
            </a:r>
          </a:p>
        </p:txBody>
      </p:sp>
      <p:sp>
        <p:nvSpPr>
          <p:cNvPr id="20" name="metric-tau=0.7">
            <a:extLst xmlns:a="http://schemas.openxmlformats.org/drawingml/2006/main">
              <a:ext uri="{FF2B5EF4-FFF2-40B4-BE49-F238E27FC236}">
                <a16:creationId xmlns:a16="http://schemas.microsoft.com/office/drawing/2014/main" id="{367F7977-5AA1-44C6-A975-BAE25DE9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364480"/>
            <a:ext cx="26447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6B042-416D-4704-923A-3228B075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5054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9A2B"/>
                </a:solidFill>
              </a:defRPr>
            </a:pPr>
            <a:r>
              <a:t>tau=0.7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3BB31-2573-496F-BE4B-F343D2E8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715000"/>
            <a:ext cx="222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90.3%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61110-054B-4300-AE5C-640FE056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153150"/>
            <a:ext cx="2228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79.04% avg acc.</a:t>
            </a:r>
          </a:p>
        </p:txBody>
      </p:sp>
      <p:sp>
        <p:nvSpPr>
          <p:cNvPr id="24" name="metric-tau=0.9">
            <a:extLst xmlns:a="http://schemas.openxmlformats.org/drawingml/2006/main">
              <a:ext uri="{FF2B5EF4-FFF2-40B4-BE49-F238E27FC236}">
                <a16:creationId xmlns:a16="http://schemas.microsoft.com/office/drawing/2014/main" id="{70F4A881-1957-4E41-8705-258A75A1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8375" y="5364480"/>
            <a:ext cx="26447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8BD69-D901-40C2-B385-4915DEC2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55054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C956C"/>
                </a:solidFill>
              </a:defRPr>
            </a:pPr>
            <a:r>
              <a:t>tau=0.9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8AD9E-2A99-4034-B00C-9F6E1ACE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5715000"/>
            <a:ext cx="222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80.4%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866373-14B9-46CB-B9CB-B4F4D55F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6153150"/>
            <a:ext cx="2228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79.18% avg acc.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158685-2A6C-49E0-9775-941B0013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972300"/>
            <a:ext cx="8248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168"/>
                </a:solidFill>
              </a:defRPr>
            </a:pPr>
            <a:r>
              <a:t>The best gated result is only 0.10 percentage points above entropy minimization, so the result should be treated as marginal.</a:t>
            </a:r>
          </a:p>
        </p:txBody>
      </p:sp>
    </p:spTree>
    <p:extLst>
      <p:ext uri="{BB962C8B-B14F-4D97-AF65-F5344CB8AC3E}">
        <p14:creationId xmlns:p14="http://schemas.microsoft.com/office/powerpoint/2010/main" val="10434946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AF14F05-7F0F-457B-A175-6B3A8209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1F8C9-8EDC-4DAC-A842-A4CF062F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687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6"/>
                </a:solidFill>
              </a:defRPr>
            </a:pPr>
            <a:r>
              <a:t>Experimental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49356-1EBF-499B-8699-7DEB151F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00100"/>
            <a:ext cx="9525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8F7F2"/>
                </a:solidFill>
              </a:defRPr>
            </a:pPr>
            <a:r>
              <a:t/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5A91F9-4337-409C-88CC-0053BADE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The final run uses synthetic corruptions generated from CIFAR-10 test images, not CIFAR-10-C.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1558C-C294-47EC-BA32-9802358B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3AE4B-3792-412B-897A-8F45ECD2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212758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21146-6485-4ECD-9084-2D41D63E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4A4A"/>
                </a:solidFill>
              </a:defRPr>
            </a:pPr>
            <a:r>
              <a:t>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6C912-C063-4363-924A-E9166E03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487" y="3924300"/>
            <a:ext cx="732835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4C321-F195-4CFE-9EA5-E21BF4DA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CIFAR-10 test images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88CD1-42D9-404B-93D0-85168762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212758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5E43D-F5C9-4DE3-8A58-C18201A6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4A4A"/>
                </a:solidFill>
              </a:defRPr>
            </a:pPr>
            <a:r>
              <a:t>Source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FFBE7-83B9-47B2-BEF3-B511E275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487" y="4552950"/>
            <a:ext cx="732835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6B83F-AAE9-4AE5-83BE-1E82F828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2915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CIFAR-style ResNet18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219BF-9101-4787-A248-CD7411A5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12758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D8E49-1F76-4454-A548-35EBFE54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4A4A"/>
                </a:solidFill>
              </a:defRPr>
            </a:pPr>
            <a:r>
              <a:t>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6CFDB-6020-4738-A5BE-25078B60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487" y="5181600"/>
            <a:ext cx="732835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F06AA-5EA1-4B8D-A16E-842B8B98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50 epochs, seed 3830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CF47C-9872-4881-AD00-DF6CBC09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212758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ABD2D-C391-4088-99AB-A5D41EDF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4A4A"/>
                </a:solidFill>
              </a:defRPr>
            </a:pPr>
            <a:r>
              <a:t>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874B4-7AF2-4521-8667-87F3421A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487" y="5810250"/>
            <a:ext cx="732835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D0B88-8B92-4736-A884-4E083803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8645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Full 10,000-image test 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E07F5-2CF2-40E3-95D6-7E13A37C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212758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44EC8-0636-4B7C-8DC3-CED0F35F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4A4A"/>
                </a:solidFill>
              </a:defRPr>
            </a:pPr>
            <a:r>
              <a:t>Shifts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4ADFC-CAD1-4693-B62E-035CE329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487" y="6438900"/>
            <a:ext cx="732835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D2F56-FAC1-4899-A7C0-5BA8A1D8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51510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7 synthetic corruptions x 5 severities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4AB4BC-F884-443D-BE78-2CC03760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67550"/>
            <a:ext cx="212758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9F132-BC2F-4853-AFAB-A0C3732D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43750"/>
            <a:ext cx="194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4A4A"/>
                </a:solidFill>
              </a:defRPr>
            </a:pPr>
            <a:r>
              <a:t>Adaptation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858C34-8DC0-4C9C-B7A7-CFA09C68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487" y="7067550"/>
            <a:ext cx="732835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A29C1-3A03-4F3A-90ED-C6D30C4A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14375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One step per batch, lr 0.001</a:t>
            </a:r>
          </a:p>
        </p:txBody>
      </p:sp>
      <p:sp>
        <p:nvSpPr>
          <p:cNvPr id="30" name="metric-Clean accuracy">
            <a:extLst xmlns:a="http://schemas.openxmlformats.org/drawingml/2006/main">
              <a:ext uri="{FF2B5EF4-FFF2-40B4-BE49-F238E27FC236}">
                <a16:creationId xmlns:a16="http://schemas.microsoft.com/office/drawing/2014/main" id="{0F6AD20B-0A94-40C5-8970-2E62B874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894" y="3086100"/>
            <a:ext cx="7003256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6BC92-60E4-46B9-A7E5-3EA5548E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19450"/>
            <a:ext cx="659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C956C"/>
                </a:solidFill>
              </a:defRPr>
            </a:pPr>
            <a:r>
              <a:t>Clean accuracy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29BEC-B8A6-4D32-98D0-F7F258FB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48050"/>
            <a:ext cx="659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93.78%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36DD21-4949-40AF-8C34-169FEC0F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67150"/>
            <a:ext cx="659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best checkpoint used for evaluation</a:t>
            </a:r>
          </a:p>
        </p:txBody>
      </p:sp>
      <p:sp>
        <p:nvSpPr>
          <p:cNvPr id="34" name="metric-Final epoch clean">
            <a:extLst xmlns:a="http://schemas.openxmlformats.org/drawingml/2006/main">
              <a:ext uri="{FF2B5EF4-FFF2-40B4-BE49-F238E27FC236}">
                <a16:creationId xmlns:a16="http://schemas.microsoft.com/office/drawing/2014/main" id="{E5495847-4195-43EB-BFAF-3EE150C2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894" y="4629150"/>
            <a:ext cx="7003256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BFA883-DE0D-4877-A1F7-EF52CF7C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762500"/>
            <a:ext cx="659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9A2B"/>
                </a:solidFill>
              </a:defRPr>
            </a:pPr>
            <a:r>
              <a:t>Final epoch clean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84DED1-2CC5-4B15-9D11-FE0DAD29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991100"/>
            <a:ext cx="659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93.66%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F03FBC-9247-492C-BE2B-58145361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410200"/>
            <a:ext cx="659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training log value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A987CA-F09B-4A02-B528-9CE501B6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894" y="6172200"/>
            <a:ext cx="7003256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E5DD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1A1084-E1A3-4F1A-A924-A89DE6FF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24600"/>
            <a:ext cx="662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A3C"/>
                </a:solidFill>
              </a:defRPr>
            </a:pPr>
            <a:r>
              <a:t>CIFAR-10-C support exists in code, but those results were not executed or reported.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7E9EE8-7B03-4347-8818-189CCFA3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894" y="7524750"/>
            <a:ext cx="7003256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3F0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7A094E-F163-430E-B96E-0135E05F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677150"/>
            <a:ext cx="662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A4A"/>
                </a:solidFill>
              </a:defRPr>
            </a:pPr>
            <a:r>
              <a:t>The final reported results are single-seed; no multi-seed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242087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9BA5718-1734-4001-9D5E-C8506FE1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0D9C54-337A-4773-A968-E1A35871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687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6"/>
                </a:solidFill>
              </a:defRPr>
            </a:pPr>
            <a:r>
              <a:t>Main Result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4647C-F44B-4D20-9338-83659312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00100"/>
            <a:ext cx="9525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8F7F2"/>
                </a:solidFill>
              </a:defRPr>
            </a:pPr>
            <a:r>
              <a:t/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62F65C-31BF-4264-A862-586D5CC8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TTA substantially improves corrupted accuracy; gating is close to entropy minimization.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41B30-DB84-48CA-95FB-7593F19E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E2F41-3290-4B17-9D9C-37A0E6E9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9280"/>
            <a:ext cx="5060216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4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41C96-DEE0-4A37-9095-625132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75262-FBA1-4C11-A6D7-EED3970C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116" y="1859280"/>
            <a:ext cx="21927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B5F98-633D-4BB0-B9E6-04CAE165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431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Avg. acc.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40567-1326-4CBB-B89F-23A9ADF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926" y="1859280"/>
            <a:ext cx="267067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4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0E959-B017-4F70-9AE1-FEC5F0C1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Gain vs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C21B5-0114-48C2-9286-2A11397C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646" y="1859280"/>
            <a:ext cx="275500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4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254D1-44FF-44D4-8209-1C814B45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9431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Gain vs entropy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B63FE-25C9-48DC-BE50-04F97BD4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703" y="1859280"/>
            <a:ext cx="2080311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4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2F941-BDAE-4CFF-A167-A07B050B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9431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Selected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1EFBD-E6C5-4153-A3FA-5207ED73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9064" y="1859280"/>
            <a:ext cx="2024086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4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90896-583D-4808-AB9E-DFA566E6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943100"/>
            <a:ext cx="182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sec/batch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6E0EE-813E-4FB7-9DAD-B29C4AB8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1730"/>
            <a:ext cx="506021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979D4-24F8-4554-9FE3-9F9D1BF0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Source-only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2CC09-8ED9-4F4A-8060-F8A4586C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116" y="2411730"/>
            <a:ext cx="219276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5A638-E6B7-4D34-92C1-57A83045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955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59.05%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B10B9-87A0-4D4E-84FC-E7BD7BB4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926" y="2411730"/>
            <a:ext cx="26706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74AECD-16B7-4438-AE8E-AE761C52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0.00 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3A6DB-1BBF-40E6-97FA-73799A95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646" y="2411730"/>
            <a:ext cx="275500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5B402-E9D0-4E8E-BE2B-59AE7614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9555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-20.02 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C403C-FA27-4FD9-B47D-3AF83D27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703" y="2411730"/>
            <a:ext cx="208031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F681C2-FF41-4233-B4E6-C862FCF9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955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B3CF85-D6C8-40DD-9C4A-262AAD8D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9064" y="2411730"/>
            <a:ext cx="202408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E9A882-4722-47D7-AC78-66A37638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2495550"/>
            <a:ext cx="182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0.134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93CFA6-AFF6-4799-BEA7-4E70F8E1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6080"/>
            <a:ext cx="506021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4715F-8B02-47D4-98B4-C197620B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BatchNorm adaptation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D1E423-F3BB-4E29-9B67-65DBF51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116" y="2926080"/>
            <a:ext cx="219276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7A160C-7EA0-4F64-AA21-B80B8988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9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76.56%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8F1643-75B2-4DE0-AC6C-804BDFFA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926" y="2926080"/>
            <a:ext cx="26706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FDF3D5-6EEF-489F-A011-8C028B93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17.51 pp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C3D8B6-6ED1-47E1-9970-E69C33DB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646" y="2926080"/>
            <a:ext cx="275500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D838E-6135-446F-A10C-D2E64DD8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0099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-2.51 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4E2EB-FD13-4E71-8F32-9FF98598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703" y="2926080"/>
            <a:ext cx="208031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954F4E-43C0-4D54-9246-73212B00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0099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100.0%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779F67-6AC0-4BB6-A4A7-7C7AE0EF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9064" y="2926080"/>
            <a:ext cx="202408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58EFBF-42B2-4325-98D7-9986613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3009900"/>
            <a:ext cx="182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0.132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AF03C6-8836-4538-9F89-A5F7C66D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0430"/>
            <a:ext cx="506021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37C5D7-E2B6-4789-83A8-193188FD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Entropy minimization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B05898-98C3-4479-916D-B93C60FF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116" y="3440430"/>
            <a:ext cx="219276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94E09B-9DAE-4454-AC91-4D657164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79.08%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93BD4E-33EF-4936-BA75-798B8094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926" y="3440430"/>
            <a:ext cx="26706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CC80B1-71F8-4171-98DD-9B1DF147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20.02 pp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DDA7BF-9F30-468B-940C-3F58C215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646" y="3440430"/>
            <a:ext cx="275500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B7B652-D999-4E46-B969-A323255E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52425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0.00 pp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49F0AD-7E9E-4A74-99A4-8414442A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703" y="3440430"/>
            <a:ext cx="208031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0C583E-6913-418B-BCC4-907EEBAD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5242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100.0%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BBDDF0-6AE6-44C0-B40F-16005B03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9064" y="3440430"/>
            <a:ext cx="202408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F55B4C-3A23-4F40-BBB6-945B63B1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3524250"/>
            <a:ext cx="182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0.223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3EC192-279B-4196-816D-03DBE681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4780"/>
            <a:ext cx="506021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3C07D8-15BB-47A4-B8CE-F4C72388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Gated TTA 0.5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F41416-DD44-4EEB-BCA5-24533012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116" y="3954780"/>
            <a:ext cx="219276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13FC9B-50B1-47E6-95D7-5C2094C3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79.04%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476945-AC04-4665-A2BD-2E271EA6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926" y="3954780"/>
            <a:ext cx="26706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6F7E7B-B393-4F97-A389-AF4626DF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19.98 pp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87E3E8-F9DD-436D-BD5E-A1228649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646" y="3954780"/>
            <a:ext cx="275500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CDD592-0847-4E54-AAEC-3DC8E9A6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0386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-0.04 pp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25E837-A9EB-4920-BE88-959CE6D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703" y="3954780"/>
            <a:ext cx="208031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9980FD-2D8A-4FA4-971B-F26FEFC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386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97.5%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1898F6C-BEB4-473C-9091-85BA16FA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9064" y="3954780"/>
            <a:ext cx="202408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C95F8D-A39B-4544-B087-18BFA523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4038600"/>
            <a:ext cx="182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0.227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ED3A25-25D5-4475-9201-BBF435A2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506021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22F210-83D4-4391-8BB4-9EE34024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Gated TTA 0.7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5D0DEB-0B02-4239-87A0-D469E09F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116" y="4469130"/>
            <a:ext cx="219276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73005D-C366-48D4-9DAC-4404AF02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529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79.04%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9A03045-E0C6-43CF-B9E5-886BCFA3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926" y="4469130"/>
            <a:ext cx="26706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77C45F-4212-448C-B951-80CE5663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19.99 pp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01C4F7-9834-426A-BD55-58D4CF89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646" y="4469130"/>
            <a:ext cx="275500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8E21B3-F49D-4409-B8CC-D6859EEA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5295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-0.03 pp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C681B9D-47F2-43D8-B32C-C5163858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703" y="4469130"/>
            <a:ext cx="208031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44EA71-DD69-4C69-A9E3-531375D3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5529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90.3%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7192DF-CF47-4FBF-BF7B-87905A71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9064" y="4469130"/>
            <a:ext cx="202408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D45C75B-D593-452B-865F-0FBD9B80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4552950"/>
            <a:ext cx="182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0.228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228ED7-8597-40F2-9874-543C2648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3480"/>
            <a:ext cx="506021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A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6A6888F-FCC0-4798-A249-BC2CC146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Gated TTA 0.9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49324E-DA47-4CFD-93EC-FC32E35E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116" y="4983480"/>
            <a:ext cx="219276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A"/>
          </a:solidFill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E24F068-4805-4D13-95AC-3DAB3154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673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79.18%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D2F368A-A692-4596-B662-053DD96E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926" y="4983480"/>
            <a:ext cx="267067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A"/>
          </a:solidFill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EAD4732-2935-4CBA-8D5A-B6776EA5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20.12 pp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5AE0185-0279-470A-B8DD-D3AA7452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646" y="4983480"/>
            <a:ext cx="275500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A"/>
          </a:solidFill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374751B-4A54-48D5-A880-67414333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0673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0.10 pp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87375FD-14BD-4FDF-9A16-7826F304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703" y="4983480"/>
            <a:ext cx="208031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A"/>
          </a:solidFill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5131D82-81A6-4B19-A9EF-B44C40C7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0673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80.4%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F1DF1A-A1A5-4694-B32E-6C43ACB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9064" y="4983480"/>
            <a:ext cx="202408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A"/>
          </a:solidFill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C643FEB-0E16-458F-99B9-7F0AB16D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5067300"/>
            <a:ext cx="182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6"/>
                </a:solidFill>
              </a:defRPr>
            </a:pPr>
            <a:r>
              <a:t>0.226</a:t>
            </a:r>
          </a:p>
        </p:txBody>
      </p:sp>
      <p:sp>
        <p:nvSpPr>
          <p:cNvPr id="90" name="metric-Best corrupted avg.">
            <a:extLst xmlns:a="http://schemas.openxmlformats.org/drawingml/2006/main">
              <a:ext uri="{FF2B5EF4-FFF2-40B4-BE49-F238E27FC236}">
                <a16:creationId xmlns:a16="http://schemas.microsoft.com/office/drawing/2014/main" id="{EC1B7324-69C0-4C6D-9FAD-4BE68B3C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6430"/>
            <a:ext cx="5511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6F2EA"/>
          </a:solidFill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7314055-BB5F-48CB-992E-F770F40F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C956C"/>
                </a:solidFill>
              </a:defRPr>
            </a:pPr>
            <a:r>
              <a:t>Best corrupted avg.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A14D2CA-615B-484C-A808-954D313B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508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79.18%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601BFF8-B5C2-45D9-819B-FDD0F51B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151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Gated TTA tau=0.9</a:t>
            </a:r>
          </a:p>
        </p:txBody>
      </p:sp>
      <p:sp>
        <p:nvSpPr>
          <p:cNvPr id="94" name="metric-Gain vs source">
            <a:extLst xmlns:a="http://schemas.openxmlformats.org/drawingml/2006/main">
              <a:ext uri="{FF2B5EF4-FFF2-40B4-BE49-F238E27FC236}">
                <a16:creationId xmlns:a16="http://schemas.microsoft.com/office/drawing/2014/main" id="{189732B6-D5B2-4E99-948D-6023261B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5726430"/>
            <a:ext cx="5511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D9B6A97-0F70-4A4F-B96A-1723319B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674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7A78"/>
                </a:solidFill>
              </a:defRPr>
            </a:pPr>
            <a:r>
              <a:t>Gain vs source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D9C60D2-8314-43D9-B383-29F63F3A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076950"/>
            <a:ext cx="508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+20.12 pp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DB5BAF-E99D-4874-A785-3B5AA399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5151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best gated setting</a:t>
            </a:r>
          </a:p>
        </p:txBody>
      </p:sp>
      <p:sp>
        <p:nvSpPr>
          <p:cNvPr id="98" name="metric-Gain vs entropy">
            <a:extLst xmlns:a="http://schemas.openxmlformats.org/drawingml/2006/main">
              <a:ext uri="{FF2B5EF4-FFF2-40B4-BE49-F238E27FC236}">
                <a16:creationId xmlns:a16="http://schemas.microsoft.com/office/drawing/2014/main" id="{4A6921D9-DECA-49E4-AAC6-8B927144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5726430"/>
            <a:ext cx="5511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EBDD"/>
          </a:solidFill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2218EDE-C4D6-48FC-9902-7B400A09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8674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9A2B"/>
                </a:solidFill>
              </a:defRPr>
            </a:pPr>
            <a:r>
              <a:t>Gain vs entropy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42B1F11-6E8B-4B17-A9CF-05FCE407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076950"/>
            <a:ext cx="508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+0.10 pp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3DEDA80-75E1-4748-8F20-E8C3B57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5151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marginal difference</a:t>
            </a:r>
          </a:p>
        </p:txBody>
      </p:sp>
    </p:spTree>
    <p:extLst>
      <p:ext uri="{BB962C8B-B14F-4D97-AF65-F5344CB8AC3E}">
        <p14:creationId xmlns:p14="http://schemas.microsoft.com/office/powerpoint/2010/main" val="11626644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DA51E341-C397-43B3-AEFF-4A2475B9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810D2E-E46D-4E93-9CB9-624A05BE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687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6"/>
                </a:solidFill>
              </a:defRPr>
            </a:pPr>
            <a:r>
              <a:t>Accuracy by Severity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E23A4-F7D7-4744-A6D1-17AAD8B4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00100"/>
            <a:ext cx="9525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8F7F2"/>
                </a:solidFill>
              </a:defRPr>
            </a:pPr>
            <a:r>
              <a:t/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14C4D3D-BFB8-496F-8D77-C0B7F8E7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772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All methods degrade as corruption severity increases, but adapted methods keep a clear gap over source-only.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0E887-7836-44CD-A459-DCFABCB4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00F4A-143D-4196-B407-CEA35412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1422570" cy="76200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c93a2af5d47e7"/>
          <a:stretch xmlns:a="http://schemas.openxmlformats.org/drawingml/2006/main"/>
        </p:blipFill>
        <p:spPr>
          <a:xfrm xmlns:a="http://schemas.openxmlformats.org/drawingml/2006/main">
            <a:off x="876300" y="2481203"/>
            <a:ext cx="11079670" cy="69247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F0090-EE53-4B3F-8207-317F573A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819650"/>
            <a:ext cx="5124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4A4A"/>
                </a:solidFill>
              </a:defRPr>
            </a:pPr>
            <a:r>
              <a:t>Severity separates the methods.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08EA6-E631-43FC-9238-1A0A2667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448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A3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B5A24-78CF-49E6-A8AC-9E0F6F85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44830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26"/>
                </a:solidFill>
              </a:defRPr>
            </a:pPr>
            <a:r>
              <a:t>Source-only accuracy falls steeply as severity increases.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42F75-761C-46CB-BECF-98848E14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848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A3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5322E-F130-47AB-93B8-0ADEBEC6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848350"/>
            <a:ext cx="4914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26"/>
                </a:solidFill>
              </a:defRPr>
            </a:pPr>
            <a:r>
              <a:t>BatchNorm adaptation recovers a large share of the lost accuracy.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E688F-01E2-44A0-86DC-2B6F753C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534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A3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BAE8F-6473-4D56-993C-9AC01000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534150"/>
            <a:ext cx="4914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26"/>
                </a:solidFill>
              </a:defRPr>
            </a:pPr>
            <a:r>
              <a:t>Entropy and gated TTA are strongest across most severity levels.</a:t>
            </a:r>
          </a:p>
        </p:txBody>
      </p:sp>
    </p:spTree>
    <p:extLst>
      <p:ext uri="{BB962C8B-B14F-4D97-AF65-F5344CB8AC3E}">
        <p14:creationId xmlns:p14="http://schemas.microsoft.com/office/powerpoint/2010/main" val="11923694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D05AF7A5-0CF1-4288-AE5B-9E0EE470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116BAE-BDE4-4E8A-99D9-4CCC89DB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687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6"/>
                </a:solidFill>
              </a:defRPr>
            </a:pPr>
            <a:r>
              <a:t>Threshold Ablation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70A28-56F9-4AE5-838E-7A23855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00100"/>
            <a:ext cx="9525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8F7F2"/>
                </a:solidFill>
              </a:defRPr>
            </a:pPr>
            <a:r>
              <a:t/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8E9B798-C871-44AF-B69A-D66ACB3B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7086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Higher thresholds select fewer samples; the final accuracy differences are small.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036CB-2126-48E8-A341-21892FCB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DE455-B420-46A8-9FB3-7766A981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925937" cy="7886700"/>
          </a:xfrm>
          <a:prstGeom xmlns:a="http://schemas.openxmlformats.org/drawingml/2006/main" prst="roundRect">
            <a:avLst>
              <a:gd name="adj" fmla="val 966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043d556714ce2"/>
          <a:stretch xmlns:a="http://schemas.openxmlformats.org/drawingml/2006/main"/>
        </p:blipFill>
        <p:spPr>
          <a:xfrm xmlns:a="http://schemas.openxmlformats.org/drawingml/2006/main">
            <a:off x="876300" y="2408560"/>
            <a:ext cx="10583037" cy="6803381"/>
          </a:xfrm>
          <a:prstGeom xmlns:a="http://schemas.openxmlformats.org/drawingml/2006/main" prst="rect">
            <a:avLst/>
          </a:prstGeom>
        </p:spPr>
      </p:pic>
      <p:sp>
        <p:nvSpPr>
          <p:cNvPr id="8" name="metric-tau=0.5">
            <a:extLst xmlns:a="http://schemas.openxmlformats.org/drawingml/2006/main">
              <a:ext uri="{FF2B5EF4-FFF2-40B4-BE49-F238E27FC236}">
                <a16:creationId xmlns:a16="http://schemas.microsoft.com/office/drawing/2014/main" id="{2889115D-38EC-40FE-9481-BD602314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637" y="3276600"/>
            <a:ext cx="5628513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2E2AD-3DE8-4B56-963E-FCCF7233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4099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7A78"/>
                </a:solidFill>
              </a:defRPr>
            </a:pPr>
            <a:r>
              <a:t>tau=0.5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F7118-6AB4-4937-8AA2-23859196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38550"/>
            <a:ext cx="5200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79.04%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9DFB9-F4BA-43AB-A988-2968CAC3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97.5% selected</a:t>
            </a:r>
          </a:p>
        </p:txBody>
      </p:sp>
      <p:sp>
        <p:nvSpPr>
          <p:cNvPr id="12" name="metric-tau=0.7">
            <a:extLst xmlns:a="http://schemas.openxmlformats.org/drawingml/2006/main">
              <a:ext uri="{FF2B5EF4-FFF2-40B4-BE49-F238E27FC236}">
                <a16:creationId xmlns:a16="http://schemas.microsoft.com/office/drawing/2014/main" id="{A86E9F90-695A-4700-90C7-FF27C760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637" y="4800600"/>
            <a:ext cx="5628513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FDB63-E481-4A40-8F37-A2E23E4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9339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9A2B"/>
                </a:solidFill>
              </a:defRPr>
            </a:pPr>
            <a:r>
              <a:t>tau=0.7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2AA65-31FB-4174-90A5-E7D2A742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162550"/>
            <a:ext cx="5200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79.04%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9EB79-DCDA-471D-A3F6-9C9A633D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581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90.3% selected</a:t>
            </a:r>
          </a:p>
        </p:txBody>
      </p:sp>
      <p:sp>
        <p:nvSpPr>
          <p:cNvPr id="16" name="metric-tau=0.9">
            <a:extLst xmlns:a="http://schemas.openxmlformats.org/drawingml/2006/main">
              <a:ext uri="{FF2B5EF4-FFF2-40B4-BE49-F238E27FC236}">
                <a16:creationId xmlns:a16="http://schemas.microsoft.com/office/drawing/2014/main" id="{475BF781-41C5-43DF-A7F4-A4633C36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4637" y="6324600"/>
            <a:ext cx="5628513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6F2E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82967-797D-4DA9-88F8-8C47973F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579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C956C"/>
                </a:solidFill>
              </a:defRPr>
            </a:pPr>
            <a:r>
              <a:t>tau=0.9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074C-8C7A-4529-9C11-9D02B6E7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686550"/>
            <a:ext cx="5200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79.18%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A4EB2-07E3-4650-B83C-56CEFDBE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105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80.4% selected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1ED69-AE71-4AEA-91B5-7B0FCFF5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7848600"/>
            <a:ext cx="5619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168"/>
                </a:solidFill>
              </a:defRPr>
            </a:pPr>
            <a:r>
              <a:t>This supports a conservative read: the gate is reproducible and diagnostic, but it does not clearly beat entropy minimization.</a:t>
            </a:r>
          </a:p>
        </p:txBody>
      </p:sp>
    </p:spTree>
    <p:extLst>
      <p:ext uri="{BB962C8B-B14F-4D97-AF65-F5344CB8AC3E}">
        <p14:creationId xmlns:p14="http://schemas.microsoft.com/office/powerpoint/2010/main" val="3963215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F654F72-5BCA-4EAE-AB7A-082329B1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031D05-F6C9-4590-BEC2-AD37867B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687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6"/>
                </a:solidFill>
              </a:defRPr>
            </a:pPr>
            <a:r>
              <a:t>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1F665-C6EC-46A7-BB6F-4E902364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00100"/>
            <a:ext cx="9525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8F7F2"/>
                </a:solidFill>
              </a:defRPr>
            </a:pPr>
            <a:r>
              <a:t/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6F6517-2EF7-48F1-B50A-D8BB9F5C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685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The strongest claims are bounded by the exact final experiment that was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BE583-BEED-4F98-823A-A571D5EF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method-Synthetic corruptions">
            <a:extLst xmlns:a="http://schemas.openxmlformats.org/drawingml/2006/main">
              <a:ext uri="{FF2B5EF4-FFF2-40B4-BE49-F238E27FC236}">
                <a16:creationId xmlns:a16="http://schemas.microsoft.com/office/drawing/2014/main" id="{080BD41C-8337-4E79-8F16-04DAE880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2170"/>
            <a:ext cx="83248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3EA5D-290A-4CE3-A840-528D09B1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794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A3C"/>
                </a:solidFill>
              </a:defRPr>
            </a:pPr>
            <a:r>
              <a:t>Synthetic corruptions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9F94D-7166-459E-92C4-F80704B4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The final numbers are from generated CIFAR-10 corruptions; CIFAR-10-C was not used.</a:t>
            </a:r>
          </a:p>
        </p:txBody>
      </p:sp>
      <p:sp>
        <p:nvSpPr>
          <p:cNvPr id="9" name="method-Single seed">
            <a:extLst xmlns:a="http://schemas.openxmlformats.org/drawingml/2006/main">
              <a:ext uri="{FF2B5EF4-FFF2-40B4-BE49-F238E27FC236}">
                <a16:creationId xmlns:a16="http://schemas.microsoft.com/office/drawing/2014/main" id="{302C4455-E402-4488-93A4-87436BE7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22170"/>
            <a:ext cx="83248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F1F8A-D6A6-4123-8704-5E8D8CB6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86000"/>
            <a:ext cx="794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9A2B"/>
                </a:solidFill>
              </a:defRPr>
            </a:pPr>
            <a:r>
              <a:t>Single seed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7D7C8-79C6-4E0F-A059-D9E257A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4795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The evaluation has one training seed and one evaluation seed; no standard deviation is reported.</a:t>
            </a:r>
          </a:p>
        </p:txBody>
      </p:sp>
      <p:sp>
        <p:nvSpPr>
          <p:cNvPr id="12" name="method-Narrow model scope">
            <a:extLst xmlns:a="http://schemas.openxmlformats.org/drawingml/2006/main">
              <a:ext uri="{FF2B5EF4-FFF2-40B4-BE49-F238E27FC236}">
                <a16:creationId xmlns:a16="http://schemas.microsoft.com/office/drawing/2014/main" id="{BF9D8378-EF0C-4184-BF3C-D65FA5A9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2185"/>
            <a:ext cx="83248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BD9A3-3B21-4ED5-83B2-918022B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29350"/>
            <a:ext cx="794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7A78"/>
                </a:solidFill>
              </a:defRPr>
            </a:pPr>
            <a:r>
              <a:t>Narrow model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A7232-9495-4E86-8C45-3E321C7E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72250"/>
            <a:ext cx="794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The conclusions are limited to CIFAR-10, a CIFAR-style ResNet18, and BatchNorm-parameter adaptation.</a:t>
            </a:r>
          </a:p>
        </p:txBody>
      </p:sp>
      <p:sp>
        <p:nvSpPr>
          <p:cNvPr id="15" name="method-No runtime reduction">
            <a:extLst xmlns:a="http://schemas.openxmlformats.org/drawingml/2006/main">
              <a:ext uri="{FF2B5EF4-FFF2-40B4-BE49-F238E27FC236}">
                <a16:creationId xmlns:a16="http://schemas.microsoft.com/office/drawing/2014/main" id="{B7CE4B63-D4B4-4A3A-9C47-22C229C9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052185"/>
            <a:ext cx="83248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3F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24AA8-DE21-4F62-B29B-E11CB542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229350"/>
            <a:ext cx="794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A4A"/>
                </a:solidFill>
              </a:defRPr>
            </a:pPr>
            <a:r>
              <a:t>No runtime reduction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538C4-EF0B-4108-8601-E465CB09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572250"/>
            <a:ext cx="7943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26"/>
                </a:solidFill>
              </a:defRPr>
            </a:pPr>
            <a:r>
              <a:t>Gating changes the loss mask, but the full batch is still forwarded and backpropagated in this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516345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6FBF644-C9E3-448E-B13B-45EB5EA6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8A6D3B-17CC-49F8-9E01-EDFBDE75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1687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26"/>
                </a:solidFill>
              </a:defRPr>
            </a:pPr>
            <a: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8B80E-75C0-44A6-848E-791A6B60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25" y="800100"/>
            <a:ext cx="9525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8F7F2"/>
                </a:solidFill>
              </a:defRPr>
            </a:pPr>
            <a:r>
              <a:t/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5E603E-0FE4-4999-A550-7641FAC7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90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168"/>
                </a:solidFill>
              </a:defRPr>
            </a:pPr>
            <a:r>
              <a:t>The project supports a conservative conclusion: TTA helps a lot; confidence gating changes little in this final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AE2A0-ED8F-4298-BA65-6E396A8A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metric-Source-only">
            <a:extLst xmlns:a="http://schemas.openxmlformats.org/drawingml/2006/main">
              <a:ext uri="{FF2B5EF4-FFF2-40B4-BE49-F238E27FC236}">
                <a16:creationId xmlns:a16="http://schemas.microsoft.com/office/drawing/2014/main" id="{9DBC36AA-684C-4ADA-B3BD-9680EA5B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6756083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E5D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CD87B-186F-4AD8-8E7E-9AE96009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6343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A3C"/>
                </a:solidFill>
              </a:defRPr>
            </a:pPr>
            <a:r>
              <a:t>Source-only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B8BE4-6D65-4F45-8FBE-51C2D62F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6343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59.05%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B85F0-6A24-4F61-B8CA-16253887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6343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average corrupted accuracy</a:t>
            </a:r>
          </a:p>
        </p:txBody>
      </p:sp>
      <p:sp>
        <p:nvSpPr>
          <p:cNvPr id="10" name="metric-Entropy minimization">
            <a:extLst xmlns:a="http://schemas.openxmlformats.org/drawingml/2006/main">
              <a:ext uri="{FF2B5EF4-FFF2-40B4-BE49-F238E27FC236}">
                <a16:creationId xmlns:a16="http://schemas.microsoft.com/office/drawing/2014/main" id="{CC450102-AFED-4DCF-8A01-A4B64D27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6756083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79FCD-AAAA-4372-A6F4-D0BF7956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6343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7A78"/>
                </a:solidFill>
              </a:defRPr>
            </a:pPr>
            <a:r>
              <a:t>Entropy minimization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9E03F-C0E6-4174-8303-96B67569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6343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79.08%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0B1D4-209B-4946-948E-6617CBD4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6343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+20.02 pp vs source</a:t>
            </a:r>
          </a:p>
        </p:txBody>
      </p:sp>
      <p:sp>
        <p:nvSpPr>
          <p:cNvPr id="14" name="metric-Best gated TTA">
            <a:extLst xmlns:a="http://schemas.openxmlformats.org/drawingml/2006/main">
              <a:ext uri="{FF2B5EF4-FFF2-40B4-BE49-F238E27FC236}">
                <a16:creationId xmlns:a16="http://schemas.microsoft.com/office/drawing/2014/main" id="{B4609889-7D85-421B-91E7-62B3B711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86550"/>
            <a:ext cx="6756083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6F2E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C0857-369F-41C1-8B09-3ADD99F6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19900"/>
            <a:ext cx="6343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C956C"/>
                </a:solidFill>
              </a:defRPr>
            </a:pPr>
            <a:r>
              <a:t>Best gated TTA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BE496-47C9-47DF-AF3B-17881770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6343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26"/>
                </a:solidFill>
              </a:defRPr>
            </a:pPr>
            <a:r>
              <a:t>79.18%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023B9-C014-4A74-9BAB-8C6CBE20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67600"/>
            <a:ext cx="6343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168"/>
                </a:solidFill>
              </a:defRPr>
            </a:pPr>
            <a:r>
              <a:t>+0.10 pp vs entropy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8C4F2-3140-4A1E-9063-D88DBF79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91050"/>
            <a:ext cx="9715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26"/>
                </a:solidFill>
              </a:defRPr>
            </a:pPr>
            <a:r>
              <a:t>Test-time adaptation substantially improves corrupted-image accuracy on the final full-test synthetic corruption benchmark.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6993B-DB02-482E-AA3D-653B985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A3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9A25C-CD5A-4B47-9C81-A7A5F57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38800"/>
            <a:ext cx="9505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t>BatchNorm adaptation and entropy minimization recover much of the source-only drop.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20B5C-48D4-4803-A3BD-4C7AB1A7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076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A3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6755E-1593-4463-BEAF-C66F3774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076950"/>
            <a:ext cx="9505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t>Confidence gating is threshold-sensitive and only marginally above entropy in the best setting.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B321F-5498-4871-B698-4E783C5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96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A3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66B9F-9890-4315-A7EF-F9D807EA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96050"/>
            <a:ext cx="9505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26"/>
                </a:solidFill>
              </a:defRPr>
            </a:pPr>
            <a:r>
              <a:t>Stronger evidence would require CIFAR-10-C, repeated seeds, stronger backbones, and adaptive thresholds.</a:t>
            </a:r>
          </a:p>
        </p:txBody>
      </p:sp>
    </p:spTree>
    <p:extLst>
      <p:ext uri="{BB962C8B-B14F-4D97-AF65-F5344CB8AC3E}">
        <p14:creationId xmlns:p14="http://schemas.microsoft.com/office/powerpoint/2010/main" val="627697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2026-05-21T12:02:39.3300000Z</dcterms:created>
  <dcterms:modified xsi:type="dcterms:W3CDTF">2026-05-21T12:02:39.3300000Z</dcterms:modified>
</coreProperties>
</file>